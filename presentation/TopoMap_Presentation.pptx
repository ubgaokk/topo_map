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TopoMap: Endpoint-Aware Hierarchical</a:t>
            </a:r>
            <a:br/>
            <a:r>
              <a:t>Point-Lane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for Driving Scene Topology Reasoning</a:t>
            </a:r>
            <a:br/>
            <a:br/>
            <a:r>
              <a:t>OpenLane-V2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Motivation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Topology reasoning is crucial for autonomous driving planning</a:t>
            </a:r>
          </a:p>
          <a:p>
            <a:pPr>
              <a:spcAft>
                <a:spcPts val="800"/>
              </a:spcAft>
              <a:defRPr sz="2000"/>
            </a:pPr>
            <a:r>
              <a:t>• Lane connectivity determines path feasibility</a:t>
            </a:r>
          </a:p>
          <a:p>
            <a:pPr>
              <a:spcAft>
                <a:spcPts val="800"/>
              </a:spcAft>
              <a:defRPr sz="2000"/>
            </a:pPr>
            <a:r>
              <a:t>• Current approaches have limitations:</a:t>
            </a:r>
          </a:p>
          <a:p>
            <a:pPr lvl="1">
              <a:spcAft>
                <a:spcPts val="800"/>
              </a:spcAft>
              <a:defRPr sz="1800"/>
            </a:pPr>
            <a:r>
              <a:t>TopoNet: No explicit endpoint modeling</a:t>
            </a:r>
          </a:p>
          <a:p>
            <a:pPr lvl="1">
              <a:spcAft>
                <a:spcPts val="800"/>
              </a:spcAft>
              <a:defRPr sz="1800"/>
            </a:pPr>
            <a:r>
              <a:t>TopoMLP: Strongly coupled to detection quality</a:t>
            </a:r>
          </a:p>
          <a:p>
            <a:pPr lvl="1">
              <a:spcAft>
                <a:spcPts val="800"/>
              </a:spcAft>
              <a:defRPr sz="1800"/>
            </a:pPr>
            <a:r>
              <a:t>TopoLogic: Lacks point-level granularity</a:t>
            </a:r>
          </a:p>
          <a:p>
            <a:pPr>
              <a:spcAft>
                <a:spcPts val="800"/>
              </a:spcAft>
              <a:defRPr sz="2000"/>
            </a:pPr>
            <a:r>
              <a:t>• Key insight: Endpoint instability is the primary bottleneck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Core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1. Endpoint Detection Module</a:t>
            </a:r>
          </a:p>
          <a:p>
            <a:pPr>
              <a:spcAft>
                <a:spcPts val="800"/>
              </a:spcAft>
              <a:defRPr sz="2000"/>
            </a:pPr>
            <a:r>
              <a:t>•    Explicitly predicts lane start/end points for topology</a:t>
            </a:r>
          </a:p>
          <a:p>
            <a:pPr>
              <a:spcAft>
                <a:spcPts val="800"/>
              </a:spcAft>
              <a:defRPr sz="2000"/>
            </a:pPr>
            <a:r>
              <a:t>• 2. Point-Level Reasoning</a:t>
            </a:r>
          </a:p>
          <a:p>
            <a:pPr>
              <a:spcAft>
                <a:spcPts val="800"/>
              </a:spcAft>
              <a:defRPr sz="2000"/>
            </a:pPr>
            <a:r>
              <a:t>•    Dense 32-point sampling along each lane centerline</a:t>
            </a:r>
          </a:p>
          <a:p>
            <a:pPr>
              <a:spcAft>
                <a:spcPts val="800"/>
              </a:spcAft>
              <a:defRPr sz="2000"/>
            </a:pPr>
            <a:r>
              <a:t>• 3. Hierarchical Point-Lane Graph</a:t>
            </a:r>
          </a:p>
          <a:p>
            <a:pPr>
              <a:spcAft>
                <a:spcPts val="800"/>
              </a:spcAft>
              <a:defRPr sz="2000"/>
            </a:pPr>
            <a:r>
              <a:t>•    Two-level message passing: Point→Lane→Topology</a:t>
            </a:r>
          </a:p>
          <a:p>
            <a:pPr>
              <a:spcAft>
                <a:spcPts val="800"/>
              </a:spcAft>
              <a:defRPr sz="2000"/>
            </a:pPr>
            <a:r>
              <a:t>• 4. Endpoint-Aware Edge Weights</a:t>
            </a:r>
          </a:p>
          <a:p>
            <a:pPr>
              <a:spcAft>
                <a:spcPts val="800"/>
              </a:spcAft>
              <a:defRPr sz="2000"/>
            </a:pPr>
            <a:r>
              <a:t>•    Geometry-based adjacency + learned attention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Input &amp;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Multi-view camera images (6-7 cameras)</a:t>
            </a:r>
          </a:p>
          <a:p>
            <a:pPr>
              <a:spcAft>
                <a:spcPts val="600"/>
              </a:spcAft>
              <a:defRPr sz="1600"/>
            </a:pPr>
            <a:r>
              <a:t>• ResNet-50 + FPN backbone</a:t>
            </a:r>
          </a:p>
          <a:p>
            <a:pPr>
              <a:spcAft>
                <a:spcPts val="600"/>
              </a:spcAft>
              <a:defRPr sz="1600"/>
            </a:pPr>
            <a:r>
              <a:t>• BEVFormer-style view transformer</a:t>
            </a:r>
          </a:p>
          <a:p>
            <a:pPr>
              <a:spcAft>
                <a:spcPts val="600"/>
              </a:spcAft>
              <a:defRPr sz="1600"/>
            </a:pPr>
            <a:r>
              <a:t>• Output: BEV features [256, 100, 200]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Query Decoding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Lane queries: 200 queries</a:t>
            </a:r>
          </a:p>
          <a:p>
            <a:pPr>
              <a:spcAft>
                <a:spcPts val="600"/>
              </a:spcAft>
              <a:defRPr sz="1600"/>
            </a:pPr>
            <a:r>
              <a:t>• TE queries: 100 queries</a:t>
            </a:r>
          </a:p>
          <a:p>
            <a:pPr>
              <a:spcAft>
                <a:spcPts val="600"/>
              </a:spcAft>
              <a:defRPr sz="1600"/>
            </a:pPr>
            <a:r>
              <a:t>• 6-layer transformer decoder</a:t>
            </a:r>
          </a:p>
          <a:p>
            <a:pPr>
              <a:spcAft>
                <a:spcPts val="600"/>
              </a:spcAft>
              <a:defRPr sz="1600"/>
            </a:pPr>
            <a:r>
              <a:t>• Iterative refinement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Endpoint Detection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Input: Lane queries + Lane geometry (11 points)</a:t>
            </a:r>
          </a:p>
          <a:p>
            <a:pPr>
              <a:spcAft>
                <a:spcPts val="800"/>
              </a:spcAft>
              <a:defRPr sz="2000"/>
            </a:pPr>
            <a:r>
              <a:t>• Outputs:</a:t>
            </a:r>
          </a:p>
          <a:p>
            <a:pPr lvl="1">
              <a:spcAft>
                <a:spcPts val="800"/>
              </a:spcAft>
              <a:defRPr sz="1800"/>
            </a:pPr>
            <a:r>
              <a:t>Start point prediction [x, y, conf]</a:t>
            </a:r>
          </a:p>
          <a:p>
            <a:pPr lvl="1">
              <a:spcAft>
                <a:spcPts val="800"/>
              </a:spcAft>
              <a:defRPr sz="1800"/>
            </a:pPr>
            <a:r>
              <a:t>End point prediction [x, y, conf]</a:t>
            </a:r>
          </a:p>
          <a:p>
            <a:pPr lvl="1">
              <a:spcAft>
                <a:spcPts val="800"/>
              </a:spcAft>
              <a:defRPr sz="1800"/>
            </a:pPr>
            <a:r>
              <a:t>Endpoint tokens for graph aggregation</a:t>
            </a:r>
          </a:p>
          <a:p>
            <a:pPr>
              <a:spcAft>
                <a:spcPts val="800"/>
              </a:spcAft>
              <a:defRPr sz="2000"/>
            </a:pPr>
            <a:r>
              <a:t>• Key design:</a:t>
            </a:r>
          </a:p>
          <a:p>
            <a:pPr lvl="1">
              <a:spcAft>
                <a:spcPts val="800"/>
              </a:spcAft>
              <a:defRPr sz="1800"/>
            </a:pPr>
            <a:r>
              <a:t>Shared feature encoder with geometry context</a:t>
            </a:r>
          </a:p>
          <a:p>
            <a:pPr lvl="1">
              <a:spcAft>
                <a:spcPts val="800"/>
              </a:spcAft>
              <a:defRPr sz="1800"/>
            </a:pPr>
            <a:r>
              <a:t>Position-aware start/end heads</a:t>
            </a:r>
          </a:p>
          <a:p>
            <a:pPr lvl="1">
              <a:spcAft>
                <a:spcPts val="800"/>
              </a:spcAft>
              <a:defRPr sz="1800"/>
            </a:pPr>
            <a:r>
              <a:t>Generates semantic endpoint embeddings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Hierarchical Point-Lane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Level 1: Point → Lane Aggregation</a:t>
            </a:r>
          </a:p>
          <a:p>
            <a:pPr lvl="1">
              <a:spcAft>
                <a:spcPts val="800"/>
              </a:spcAft>
              <a:defRPr sz="1800"/>
            </a:pPr>
            <a:r>
              <a:t>Multi-head attention: lane attends to its own points</a:t>
            </a:r>
          </a:p>
          <a:p>
            <a:pPr lvl="1">
              <a:spcAft>
                <a:spcPts val="800"/>
              </a:spcAft>
              <a:defRPr sz="1800"/>
            </a:pPr>
            <a:r>
              <a:t>Captures local geometry details</a:t>
            </a:r>
          </a:p>
          <a:p>
            <a:pPr>
              <a:spcAft>
                <a:spcPts val="800"/>
              </a:spcAft>
              <a:defRPr sz="2000"/>
            </a:pPr>
            <a:r>
              <a:t>• Level 2: Lane → Lane Topology</a:t>
            </a:r>
          </a:p>
          <a:p>
            <a:pPr lvl="1">
              <a:spcAft>
                <a:spcPts val="800"/>
              </a:spcAft>
              <a:defRPr sz="1800"/>
            </a:pPr>
            <a:r>
              <a:t>Endpoint-aware adjacency matrix</a:t>
            </a:r>
          </a:p>
          <a:p>
            <a:pPr lvl="1">
              <a:spcAft>
                <a:spcPts val="800"/>
              </a:spcAft>
              <a:defRPr sz="1800"/>
            </a:pPr>
            <a:r>
              <a:t>GNN with successor/predecessor/self-loop edges</a:t>
            </a:r>
          </a:p>
          <a:p>
            <a:pPr>
              <a:spcAft>
                <a:spcPts val="800"/>
              </a:spcAft>
              <a:defRPr sz="2000"/>
            </a:pPr>
            <a:r>
              <a:t>• Level 3: Cross-Level Fusion</a:t>
            </a:r>
          </a:p>
          <a:p>
            <a:pPr lvl="1">
              <a:spcAft>
                <a:spcPts val="800"/>
              </a:spcAft>
              <a:defRPr sz="1800"/>
            </a:pPr>
            <a:r>
              <a:t>Gated combination of point and lane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Comparison with State-of-the-Art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OpenLane-V2 subset_A (OLS)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TopoNet: 39.8</a:t>
            </a:r>
          </a:p>
          <a:p>
            <a:pPr>
              <a:spcAft>
                <a:spcPts val="600"/>
              </a:spcAft>
              <a:defRPr sz="1600"/>
            </a:pPr>
            <a:r>
              <a:t>• TopoMLP: 44.1</a:t>
            </a:r>
          </a:p>
          <a:p>
            <a:pPr>
              <a:spcAft>
                <a:spcPts val="600"/>
              </a:spcAft>
              <a:defRPr sz="1600"/>
            </a:pPr>
            <a:r>
              <a:t>• TopoLogic: 44.1</a:t>
            </a:r>
          </a:p>
          <a:p>
            <a:pPr>
              <a:spcAft>
                <a:spcPts val="600"/>
              </a:spcAft>
              <a:defRPr sz="1600"/>
            </a:pPr>
            <a:r>
              <a:t>• TopoFormer: 46.3</a:t>
            </a:r>
          </a:p>
          <a:p>
            <a:pPr>
              <a:spcAft>
                <a:spcPts val="600"/>
              </a:spcAft>
              <a:defRPr sz="1600"/>
            </a:pPr>
            <a:r>
              <a:t>• TopoPoint: 48.8</a:t>
            </a:r>
          </a:p>
          <a:p>
            <a:pPr>
              <a:spcAft>
                <a:spcPts val="600"/>
              </a:spcAft>
              <a:defRPr sz="1600"/>
            </a:pPr>
            <a:r>
              <a:t>• TopoMap (Ours): 46.5+ (target)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Key Differences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Hierarchical vs flat graph</a:t>
            </a:r>
          </a:p>
          <a:p>
            <a:pPr>
              <a:spcAft>
                <a:spcPts val="600"/>
              </a:spcAft>
              <a:defRPr sz="1600"/>
            </a:pPr>
            <a:r>
              <a:t>• Explicit endpoint modeling</a:t>
            </a:r>
          </a:p>
          <a:p>
            <a:pPr>
              <a:spcAft>
                <a:spcPts val="600"/>
              </a:spcAft>
              <a:defRPr sz="1600"/>
            </a:pPr>
            <a:r>
              <a:t>• Point-level aggregation</a:t>
            </a:r>
          </a:p>
          <a:p>
            <a:pPr>
              <a:spcAft>
                <a:spcPts val="600"/>
              </a:spcAft>
              <a:defRPr sz="1600"/>
            </a:pPr>
            <a:r>
              <a:t>• Geometry-aware edges</a:t>
            </a:r>
          </a:p>
          <a:p>
            <a:pPr>
              <a:spcAft>
                <a:spcPts val="600"/>
              </a:spcAft>
              <a:defRPr sz="1600"/>
            </a:pPr>
            <a:r>
              <a:t>• Modular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Ablation 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Exp-1: TopoNet Baseline (reproduction)</a:t>
            </a:r>
          </a:p>
          <a:p>
            <a:pPr>
              <a:spcAft>
                <a:spcPts val="800"/>
              </a:spcAft>
              <a:defRPr sz="2000"/>
            </a:pPr>
            <a:r>
              <a:t>• Exp-2: + Endpoint Detection only</a:t>
            </a:r>
          </a:p>
          <a:p>
            <a:pPr>
              <a:spcAft>
                <a:spcPts val="800"/>
              </a:spcAft>
              <a:defRPr sz="2000"/>
            </a:pPr>
            <a:r>
              <a:t>• Exp-3: + Point-Lane Graph only</a:t>
            </a:r>
          </a:p>
          <a:p>
            <a:pPr>
              <a:spcAft>
                <a:spcPts val="800"/>
              </a:spcAft>
              <a:defRPr sz="2000"/>
            </a:pPr>
            <a:r>
              <a:t>• Exp-4: Full model (endpoint + point-lanep)</a:t>
            </a:r>
          </a:p>
          <a:p>
            <a:pPr>
              <a:spcAft>
                <a:spcPts val="800"/>
              </a:spcAft>
              <a:defRPr sz="2000"/>
            </a:pPr>
            <a:r>
              <a:t>• Expected findings:</a:t>
            </a:r>
          </a:p>
          <a:p>
            <a:pPr lvl="1">
              <a:spcAft>
                <a:spcPts val="800"/>
              </a:spcAft>
              <a:defRPr sz="1800"/>
            </a:pPr>
            <a:r>
              <a:t>Point-level reasoning contributes more than endpoint alone</a:t>
            </a:r>
          </a:p>
          <a:p>
            <a:pPr lvl="1">
              <a:spcAft>
                <a:spcPts val="800"/>
              </a:spcAft>
              <a:defRPr sz="1800"/>
            </a:pPr>
            <a:r>
              <a:t>Combined model exceeds individual improvements</a:t>
            </a:r>
          </a:p>
          <a:p>
            <a:pPr lvl="1">
              <a:spcAft>
                <a:spcPts val="800"/>
              </a:spcAft>
              <a:defRPr sz="1800"/>
            </a:pPr>
            <a:r>
              <a:t>GNN depth and point count have diminishing returns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Optimizer: AdamW (lr=2e-4, wd=0.01)</a:t>
            </a:r>
          </a:p>
          <a:p>
            <a:pPr>
              <a:spcAft>
                <a:spcPts val="800"/>
              </a:spcAft>
              <a:defRPr sz="2000"/>
            </a:pPr>
            <a:r>
              <a:t>• Scheduler: CosineAnnealingLR (30 epochs)</a:t>
            </a:r>
          </a:p>
          <a:p>
            <a:pPr>
              <a:spcAft>
                <a:spcPts val="800"/>
              </a:spcAft>
              <a:defRPr sz="2000"/>
            </a:pPr>
            <a:r>
              <a:t>• Loss weights:</a:t>
            </a:r>
          </a:p>
          <a:p>
            <a:pPr lvl="1">
              <a:spcAft>
                <a:spcPts val="800"/>
              </a:spcAft>
              <a:defRPr sz="1800"/>
            </a:pPr>
            <a:r>
              <a:t>λ_detection = 1.0</a:t>
            </a:r>
          </a:p>
          <a:p>
            <a:pPr lvl="1">
              <a:spcAft>
                <a:spcPts val="800"/>
              </a:spcAft>
              <a:defRPr sz="1800"/>
            </a:pPr>
            <a:r>
              <a:t>λ_topology = 1.0</a:t>
            </a:r>
          </a:p>
          <a:p>
            <a:pPr lvl="1">
              <a:spcAft>
                <a:spcPts val="800"/>
              </a:spcAft>
              <a:defRPr sz="1800"/>
            </a:pPr>
            <a:r>
              <a:t>λ_endpoint = 0.5</a:t>
            </a:r>
          </a:p>
          <a:p>
            <a:pPr>
              <a:spcAft>
                <a:spcPts val="800"/>
              </a:spcAft>
              <a:defRPr sz="2000"/>
            </a:pPr>
            <a:r>
              <a:t>• Mixed precision (AMP) support</a:t>
            </a:r>
          </a:p>
          <a:p>
            <a:pPr>
              <a:spcAft>
                <a:spcPts val="800"/>
              </a:spcAft>
              <a:defRPr sz="2000"/>
            </a:pPr>
            <a:r>
              <a:t>• torch.compile() for PyTorch 2.0+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Current limitations:</a:t>
            </a:r>
          </a:p>
          <a:p>
            <a:pPr lvl="1">
              <a:spcAft>
                <a:spcPts val="800"/>
              </a:spcAft>
              <a:defRPr sz="1800"/>
            </a:pPr>
            <a:r>
              <a:t>Topology coupled to detection quality</a:t>
            </a:r>
          </a:p>
          <a:p>
            <a:pPr lvl="1">
              <a:spcAft>
                <a:spcPts val="800"/>
              </a:spcAft>
              <a:defRPr sz="1800"/>
            </a:pPr>
            <a:r>
              <a:t>No temporal modeling (frame-to-frame)</a:t>
            </a:r>
          </a:p>
          <a:p>
            <a:pPr lvl="1">
              <a:spcAft>
                <a:spcPts val="800"/>
              </a:spcAft>
              <a:defRPr sz="1800"/>
            </a:pPr>
            <a:r>
              <a:t>Limited to front-view TE representation</a:t>
            </a:r>
          </a:p>
          <a:p>
            <a:pPr>
              <a:spcAft>
                <a:spcPts val="800"/>
              </a:spcAft>
              <a:defRPr sz="2000"/>
            </a:pPr>
            <a:r>
              <a:t>• Future directions:</a:t>
            </a:r>
          </a:p>
          <a:p>
            <a:pPr lvl="1">
              <a:spcAft>
                <a:spcPts val="800"/>
              </a:spcAft>
              <a:defRPr sz="1800"/>
            </a:pPr>
            <a:r>
              <a:t>Temporal scene graph propagation</a:t>
            </a:r>
          </a:p>
          <a:p>
            <a:pPr lvl="1">
              <a:spcAft>
                <a:spcPts val="800"/>
              </a:spcAft>
              <a:defRPr sz="1800"/>
            </a:pPr>
            <a:r>
              <a:t>SD-Map prior integration</a:t>
            </a:r>
          </a:p>
          <a:p>
            <a:pPr lvl="1">
              <a:spcAft>
                <a:spcPts val="800"/>
              </a:spcAft>
              <a:defRPr sz="1800"/>
            </a:pPr>
            <a:r>
              <a:t>Multi-modal fusion (LiDAR/radar)</a:t>
            </a:r>
          </a:p>
          <a:p>
            <a:pPr lvl="1">
              <a:spcAft>
                <a:spcPts val="800"/>
              </a:spcAft>
              <a:defRPr sz="1800"/>
            </a:pPr>
            <a:r>
              <a:t>Cross-domain adaptation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TopoMap: A novel endpoint-aware hierarchical topology reasoner</a:t>
            </a:r>
          </a:p>
          <a:p>
            <a:pPr>
              <a:spcAft>
                <a:spcPts val="800"/>
              </a:spcAft>
              <a:defRPr sz="2000"/>
            </a:pPr>
            <a:r>
              <a:t>• Key innovations:</a:t>
            </a:r>
          </a:p>
          <a:p>
            <a:pPr lvl="1">
              <a:spcAft>
                <a:spcPts val="800"/>
              </a:spcAft>
              <a:defRPr sz="1800"/>
            </a:pPr>
            <a:r>
              <a:t>Explicit endpoint detection for lane connectivity</a:t>
            </a:r>
          </a:p>
          <a:p>
            <a:pPr lvl="1">
              <a:spcAft>
                <a:spcPts val="800"/>
              </a:spcAft>
              <a:defRPr sz="1800"/>
            </a:pPr>
            <a:r>
              <a:t>Point-level graph for fine-grained geometry</a:t>
            </a:r>
          </a:p>
          <a:p>
            <a:pPr lvl="1">
              <a:spcAft>
                <a:spcPts val="800"/>
              </a:spcAft>
              <a:defRPr sz="1800"/>
            </a:pPr>
            <a:r>
              <a:t>Hierarchical message passing with gating</a:t>
            </a:r>
          </a:p>
          <a:p>
            <a:pPr>
              <a:spcAft>
                <a:spcPts val="800"/>
              </a:spcAft>
              <a:defRPr sz="2000"/>
            </a:pPr>
            <a:r>
              <a:t>• Expected improvement: +6.7 OLS over TopoNet baseline</a:t>
            </a:r>
          </a:p>
          <a:p>
            <a:pPr>
              <a:spcAft>
                <a:spcPts val="800"/>
              </a:spcAft>
              <a:defRPr sz="2000"/>
            </a:pPr>
            <a:r>
              <a:t>• Open-source implementation with comprehensive tests</a:t>
            </a:r>
          </a:p>
          <a:p>
            <a:pPr>
              <a:spcAft>
                <a:spcPts val="800"/>
              </a:spcAft>
              <a:defRPr sz="2000"/>
            </a:pPr>
            <a:r>
              <a:t>• 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